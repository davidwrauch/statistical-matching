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Barlow ExtraLight"/>
      <p:regular r:id="rId20"/>
      <p:bold r:id="rId21"/>
      <p:italic r:id="rId22"/>
      <p:boldItalic r:id="rId23"/>
    </p:embeddedFont>
    <p:embeddedFont>
      <p:font typeface="Hepta Slab Medium"/>
      <p:regular r:id="rId24"/>
      <p:bold r:id="rId25"/>
    </p:embeddedFont>
    <p:embeddedFont>
      <p:font typeface="Hepta Slab Light"/>
      <p:regular r:id="rId26"/>
      <p:bold r:id="rId27"/>
    </p:embeddedFont>
    <p:embeddedFont>
      <p:font typeface="Hepta Slab"/>
      <p:regular r:id="rId28"/>
      <p:bold r:id="rId29"/>
    </p:embeddedFont>
    <p:embeddedFont>
      <p:font typeface="Barlow Medium"/>
      <p:regular r:id="rId30"/>
      <p:bold r:id="rId31"/>
      <p:italic r:id="rId32"/>
      <p:boldItalic r:id="rId33"/>
    </p:embeddedFont>
    <p:embeddedFont>
      <p:font typeface="Barlow Light"/>
      <p:regular r:id="rId34"/>
      <p:bold r:id="rId35"/>
      <p:italic r:id="rId36"/>
      <p:boldItalic r:id="rId37"/>
    </p:embeddedFont>
    <p:embeddedFont>
      <p:font typeface="Barlow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italic.fntdata"/><Relationship Id="rId20" Type="http://schemas.openxmlformats.org/officeDocument/2006/relationships/font" Target="fonts/BarlowExtraLight-regular.fntdata"/><Relationship Id="rId41" Type="http://schemas.openxmlformats.org/officeDocument/2006/relationships/font" Target="fonts/Barlow-boldItalic.fntdata"/><Relationship Id="rId22" Type="http://schemas.openxmlformats.org/officeDocument/2006/relationships/font" Target="fonts/BarlowExtraLight-italic.fntdata"/><Relationship Id="rId21" Type="http://schemas.openxmlformats.org/officeDocument/2006/relationships/font" Target="fonts/BarlowExtraLight-bold.fntdata"/><Relationship Id="rId24" Type="http://schemas.openxmlformats.org/officeDocument/2006/relationships/font" Target="fonts/HeptaSlabMedium-regular.fntdata"/><Relationship Id="rId23" Type="http://schemas.openxmlformats.org/officeDocument/2006/relationships/font" Target="fonts/BarlowExtra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ptaSlabLight-regular.fntdata"/><Relationship Id="rId25" Type="http://schemas.openxmlformats.org/officeDocument/2006/relationships/font" Target="fonts/HeptaSlabMedium-bold.fntdata"/><Relationship Id="rId28" Type="http://schemas.openxmlformats.org/officeDocument/2006/relationships/font" Target="fonts/HeptaSlab-regular.fntdata"/><Relationship Id="rId27" Type="http://schemas.openxmlformats.org/officeDocument/2006/relationships/font" Target="fonts/HeptaSlab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ptaSlab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Medium-bold.fntdata"/><Relationship Id="rId30" Type="http://schemas.openxmlformats.org/officeDocument/2006/relationships/font" Target="fonts/BarlowMedium-regular.fntdata"/><Relationship Id="rId11" Type="http://schemas.openxmlformats.org/officeDocument/2006/relationships/slide" Target="slides/slide6.xml"/><Relationship Id="rId33" Type="http://schemas.openxmlformats.org/officeDocument/2006/relationships/font" Target="fonts/Barlow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BarlowMedium-italic.fntdata"/><Relationship Id="rId13" Type="http://schemas.openxmlformats.org/officeDocument/2006/relationships/slide" Target="slides/slide8.xml"/><Relationship Id="rId35" Type="http://schemas.openxmlformats.org/officeDocument/2006/relationships/font" Target="fonts/BarlowLight-bold.fntdata"/><Relationship Id="rId12" Type="http://schemas.openxmlformats.org/officeDocument/2006/relationships/slide" Target="slides/slide7.xml"/><Relationship Id="rId34" Type="http://schemas.openxmlformats.org/officeDocument/2006/relationships/font" Target="fonts/BarlowLight-regular.fntdata"/><Relationship Id="rId15" Type="http://schemas.openxmlformats.org/officeDocument/2006/relationships/slide" Target="slides/slide10.xml"/><Relationship Id="rId37" Type="http://schemas.openxmlformats.org/officeDocument/2006/relationships/font" Target="fonts/BarlowLight-boldItalic.fntdata"/><Relationship Id="rId14" Type="http://schemas.openxmlformats.org/officeDocument/2006/relationships/slide" Target="slides/slide9.xml"/><Relationship Id="rId36" Type="http://schemas.openxmlformats.org/officeDocument/2006/relationships/font" Target="fonts/BarlowLight-italic.fntdata"/><Relationship Id="rId17" Type="http://schemas.openxmlformats.org/officeDocument/2006/relationships/slide" Target="slides/slide12.xml"/><Relationship Id="rId39" Type="http://schemas.openxmlformats.org/officeDocument/2006/relationships/font" Target="fonts/Barlow-bold.fntdata"/><Relationship Id="rId16" Type="http://schemas.openxmlformats.org/officeDocument/2006/relationships/slide" Target="slides/slide11.xml"/><Relationship Id="rId38" Type="http://schemas.openxmlformats.org/officeDocument/2006/relationships/font" Target="fonts/Barlow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44737b1a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44737b1a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44737b1a56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44737b1a56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44737b1a56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44737b1a56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44737b1a56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44737b1a56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44737b1a56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44737b1a56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44737b1a56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44737b1a56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44737b1a56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44737b1a56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44737b1a56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44737b1a56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44737b1a56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44737b1a56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44737b1a56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44737b1a56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44737b1a56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44737b1a56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44737b1a56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44737b1a56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44737b1a56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44737b1a56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44737b1a56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44737b1a56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38" name="Google Shape;138;p24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3" name="Google Shape;143;p25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4" name="Google Shape;144;p25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1" name="Google Shape;151;p25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4" name="Google Shape;154;p25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57" name="Google Shape;157;p25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59" name="Google Shape;159;p25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164" name="Google Shape;164;p26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66" name="Google Shape;166;p26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7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1" name="Google Shape;171;p27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28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8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8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2" name="Google Shape;182;p28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28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6" name="Google Shape;186;p28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7" name="Google Shape;187;p28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8" name="Google Shape;188;p28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93" name="Google Shape;193;p2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1" name="Google Shape;201;p31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04" name="Google Shape;204;p31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5" name="Google Shape;205;p31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3" name="Google Shape;213;p33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4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34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4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4" name="Google Shape;224;p35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25" name="Google Shape;225;p35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28" name="Google Shape;228;p35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2" name="Google Shape;242;p38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3" name="Google Shape;253;p40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57" name="Google Shape;257;p40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40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9" name="Google Shape;259;p40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0" name="Google Shape;260;p40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1" name="Google Shape;261;p40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2" name="Google Shape;262;p40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63" name="Google Shape;263;p40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64" name="Google Shape;264;p40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6" name="Google Shape;266;p40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7" name="Google Shape;267;p40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8" name="Google Shape;268;p40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69" name="Google Shape;269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6" name="Google Shape;276;p42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7" name="Google Shape;27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84" name="Google Shape;284;p43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5" name="Google Shape;285;p43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6" name="Google Shape;286;p43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87" name="Google Shape;287;p43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8" name="Google Shape;288;p43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89" name="Google Shape;289;p43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90" name="Google Shape;290;p43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1" name="Google Shape;291;p43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2" name="Google Shape;292;p43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6" name="Google Shape;296;p44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297" name="Google Shape;297;p44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44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9" name="Google Shape;299;p44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0" name="Google Shape;300;p44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1" name="Google Shape;301;p44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2" name="Google Shape;302;p44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3" name="Google Shape;303;p44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4" name="Google Shape;304;p44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05" name="Google Shape;305;p44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6" name="Google Shape;306;p44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7" name="Google Shape;307;p44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8" name="Google Shape;308;p44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9" name="Google Shape;309;p44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0" name="Google Shape;310;p44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44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44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6" name="Google Shape;316;p45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7" name="Google Shape;317;p4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20" name="Google Shape;320;p46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spreadsheets/d/1eVifU6lKjiRJmMfkMgw8x8dBttULQJ5V/edit?usp=sharing&amp;ouid=106737948019924007884&amp;rtpof=true&amp;sd=true" TargetMode="External"/><Relationship Id="rId5" Type="http://schemas.openxmlformats.org/officeDocument/2006/relationships/hyperlink" Target="https://docs.google.com/spreadsheets/d/1eVifU6lKjiRJmMfkMgw8x8dBttULQJ5V/edit?usp=sharing&amp;ouid=106737948019924007884&amp;rtpof=true&amp;sd=true" TargetMode="External"/><Relationship Id="rId6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7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Causal Inference example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8"/>
          <p:cNvSpPr txBox="1"/>
          <p:nvPr>
            <p:ph idx="1" type="subTitle"/>
          </p:nvPr>
        </p:nvSpPr>
        <p:spPr>
          <a:xfrm>
            <a:off x="791150" y="522625"/>
            <a:ext cx="3918300" cy="7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Product</a:t>
            </a:r>
            <a:endParaRPr/>
          </a:p>
        </p:txBody>
      </p:sp>
      <p:sp>
        <p:nvSpPr>
          <p:cNvPr id="332" name="Google Shape;332;p4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3" name="Google Shape;33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850" y="1639100"/>
            <a:ext cx="7668276" cy="343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9"/>
          <p:cNvSpPr txBox="1"/>
          <p:nvPr>
            <p:ph idx="5" type="body"/>
          </p:nvPr>
        </p:nvSpPr>
        <p:spPr>
          <a:xfrm>
            <a:off x="480425" y="877425"/>
            <a:ext cx="81516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Visitors answer questions about their insurance needs and ideally receive many insurance policy options.</a:t>
            </a:r>
            <a:endParaRPr sz="1300"/>
          </a:p>
        </p:txBody>
      </p:sp>
      <p:sp>
        <p:nvSpPr>
          <p:cNvPr id="339" name="Google Shape;339;p49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Funnel</a:t>
            </a:r>
            <a:endParaRPr/>
          </a:p>
        </p:txBody>
      </p:sp>
      <p:sp>
        <p:nvSpPr>
          <p:cNvPr id="340" name="Google Shape;340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1" name="Google Shape;341;p49"/>
          <p:cNvPicPr preferRelativeResize="0"/>
          <p:nvPr/>
        </p:nvPicPr>
        <p:blipFill rotWithShape="1">
          <a:blip r:embed="rId3">
            <a:alphaModFix/>
          </a:blip>
          <a:srcRect b="15610" l="8168" r="8219" t="15741"/>
          <a:stretch/>
        </p:blipFill>
        <p:spPr>
          <a:xfrm>
            <a:off x="613175" y="1385725"/>
            <a:ext cx="7917650" cy="365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0"/>
          <p:cNvSpPr txBox="1"/>
          <p:nvPr>
            <p:ph idx="5" type="body"/>
          </p:nvPr>
        </p:nvSpPr>
        <p:spPr>
          <a:xfrm>
            <a:off x="480425" y="877425"/>
            <a:ext cx="5956500" cy="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Each part of the Zebra purchasing funnel has a product manager and KPIs</a:t>
            </a:r>
            <a:endParaRPr sz="1300"/>
          </a:p>
        </p:txBody>
      </p:sp>
      <p:sp>
        <p:nvSpPr>
          <p:cNvPr id="347" name="Google Shape;347;p50"/>
          <p:cNvSpPr txBox="1"/>
          <p:nvPr>
            <p:ph type="title"/>
          </p:nvPr>
        </p:nvSpPr>
        <p:spPr>
          <a:xfrm>
            <a:off x="1207500" y="1729787"/>
            <a:ext cx="2038800" cy="3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Marketing/Email</a:t>
            </a:r>
            <a:endParaRPr sz="1700"/>
          </a:p>
        </p:txBody>
      </p:sp>
      <p:sp>
        <p:nvSpPr>
          <p:cNvPr id="348" name="Google Shape;348;p50"/>
          <p:cNvSpPr txBox="1"/>
          <p:nvPr>
            <p:ph idx="2" type="title"/>
          </p:nvPr>
        </p:nvSpPr>
        <p:spPr>
          <a:xfrm>
            <a:off x="1207500" y="2470775"/>
            <a:ext cx="2371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700"/>
              <a:t>Comparing Policies UX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9" name="Google Shape;349;p50"/>
          <p:cNvSpPr txBox="1"/>
          <p:nvPr>
            <p:ph idx="3" type="title"/>
          </p:nvPr>
        </p:nvSpPr>
        <p:spPr>
          <a:xfrm>
            <a:off x="1207500" y="3289978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700"/>
              <a:t>The Agency (phone)</a:t>
            </a:r>
            <a:endParaRPr sz="1700"/>
          </a:p>
        </p:txBody>
      </p:sp>
      <p:sp>
        <p:nvSpPr>
          <p:cNvPr id="350" name="Google Shape;350;p50"/>
          <p:cNvSpPr txBox="1"/>
          <p:nvPr>
            <p:ph idx="4" type="title"/>
          </p:nvPr>
        </p:nvSpPr>
        <p:spPr>
          <a:xfrm>
            <a:off x="1207500" y="4120963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700"/>
              <a:t>Bundling</a:t>
            </a:r>
            <a:endParaRPr sz="1700"/>
          </a:p>
        </p:txBody>
      </p:sp>
      <p:cxnSp>
        <p:nvCxnSpPr>
          <p:cNvPr id="351" name="Google Shape;351;p50"/>
          <p:cNvCxnSpPr/>
          <p:nvPr/>
        </p:nvCxnSpPr>
        <p:spPr>
          <a:xfrm>
            <a:off x="721675" y="1619600"/>
            <a:ext cx="300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50"/>
          <p:cNvCxnSpPr/>
          <p:nvPr/>
        </p:nvCxnSpPr>
        <p:spPr>
          <a:xfrm>
            <a:off x="721675" y="2272097"/>
            <a:ext cx="300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50"/>
          <p:cNvCxnSpPr/>
          <p:nvPr/>
        </p:nvCxnSpPr>
        <p:spPr>
          <a:xfrm>
            <a:off x="721675" y="3090373"/>
            <a:ext cx="300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50"/>
          <p:cNvCxnSpPr/>
          <p:nvPr/>
        </p:nvCxnSpPr>
        <p:spPr>
          <a:xfrm>
            <a:off x="721675" y="3891078"/>
            <a:ext cx="300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50"/>
          <p:cNvCxnSpPr/>
          <p:nvPr/>
        </p:nvCxnSpPr>
        <p:spPr>
          <a:xfrm>
            <a:off x="721675" y="4704475"/>
            <a:ext cx="300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0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Funnel</a:t>
            </a:r>
            <a:endParaRPr/>
          </a:p>
        </p:txBody>
      </p:sp>
      <p:sp>
        <p:nvSpPr>
          <p:cNvPr id="357" name="Google Shape;357;p5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8" name="Google Shape;358;p50"/>
          <p:cNvCxnSpPr/>
          <p:nvPr/>
        </p:nvCxnSpPr>
        <p:spPr>
          <a:xfrm>
            <a:off x="5309100" y="1619600"/>
            <a:ext cx="300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50"/>
          <p:cNvCxnSpPr/>
          <p:nvPr/>
        </p:nvCxnSpPr>
        <p:spPr>
          <a:xfrm>
            <a:off x="5309100" y="2272097"/>
            <a:ext cx="300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50"/>
          <p:cNvCxnSpPr/>
          <p:nvPr/>
        </p:nvCxnSpPr>
        <p:spPr>
          <a:xfrm>
            <a:off x="5309100" y="3090373"/>
            <a:ext cx="300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50"/>
          <p:cNvCxnSpPr/>
          <p:nvPr/>
        </p:nvCxnSpPr>
        <p:spPr>
          <a:xfrm>
            <a:off x="5309100" y="3891078"/>
            <a:ext cx="300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50"/>
          <p:cNvCxnSpPr/>
          <p:nvPr/>
        </p:nvCxnSpPr>
        <p:spPr>
          <a:xfrm>
            <a:off x="5309100" y="4704475"/>
            <a:ext cx="300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50"/>
          <p:cNvSpPr txBox="1"/>
          <p:nvPr>
            <p:ph type="title"/>
          </p:nvPr>
        </p:nvSpPr>
        <p:spPr>
          <a:xfrm>
            <a:off x="5773150" y="1701438"/>
            <a:ext cx="2886300" cy="3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Integrations with Insurers</a:t>
            </a:r>
            <a:endParaRPr sz="1700"/>
          </a:p>
        </p:txBody>
      </p:sp>
      <p:sp>
        <p:nvSpPr>
          <p:cNvPr id="364" name="Google Shape;364;p50"/>
          <p:cNvSpPr txBox="1"/>
          <p:nvPr>
            <p:ph idx="2" type="title"/>
          </p:nvPr>
        </p:nvSpPr>
        <p:spPr>
          <a:xfrm>
            <a:off x="5773150" y="2442426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Early Funnel Qs?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65" name="Google Shape;365;p50"/>
          <p:cNvSpPr txBox="1"/>
          <p:nvPr>
            <p:ph idx="3" type="title"/>
          </p:nvPr>
        </p:nvSpPr>
        <p:spPr>
          <a:xfrm>
            <a:off x="5773150" y="3261638"/>
            <a:ext cx="2371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Website content/SEO</a:t>
            </a:r>
            <a:endParaRPr sz="1700"/>
          </a:p>
        </p:txBody>
      </p:sp>
      <p:sp>
        <p:nvSpPr>
          <p:cNvPr id="366" name="Google Shape;366;p50"/>
          <p:cNvSpPr txBox="1"/>
          <p:nvPr>
            <p:ph idx="4" type="title"/>
          </p:nvPr>
        </p:nvSpPr>
        <p:spPr>
          <a:xfrm>
            <a:off x="5773150" y="4092613"/>
            <a:ext cx="2371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700"/>
              <a:t>Returning Customers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/>
          <p:nvPr>
            <p:ph type="title"/>
          </p:nvPr>
        </p:nvSpPr>
        <p:spPr>
          <a:xfrm>
            <a:off x="697350" y="2133450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Question:</a:t>
            </a:r>
            <a:endParaRPr sz="4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metric do we focus on?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900" y="1749825"/>
            <a:ext cx="4211625" cy="3256277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2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Step</a:t>
            </a:r>
            <a:endParaRPr/>
          </a:p>
        </p:txBody>
      </p:sp>
      <p:sp>
        <p:nvSpPr>
          <p:cNvPr id="378" name="Google Shape;378;p52"/>
          <p:cNvSpPr txBox="1"/>
          <p:nvPr>
            <p:ph idx="2" type="body"/>
          </p:nvPr>
        </p:nvSpPr>
        <p:spPr>
          <a:xfrm>
            <a:off x="0" y="1630825"/>
            <a:ext cx="5157000" cy="3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Question: Which metric impacts revenue per visitor the most?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Analytical Tool: Decision Tree and Random Forest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Products: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Visual of </a:t>
            </a:r>
            <a:r>
              <a:rPr lang="en"/>
              <a:t>decision</a:t>
            </a:r>
            <a:r>
              <a:rPr lang="en"/>
              <a:t> tree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Random Forest Variable Importance ranking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Answer: Number of insurance quotes seen after filling out funnel questions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Ideally: more than three policies to compare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Orders of </a:t>
            </a:r>
            <a:r>
              <a:rPr lang="en"/>
              <a:t>magnitude</a:t>
            </a:r>
            <a:r>
              <a:rPr lang="en"/>
              <a:t> more impactful than any metric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Takeaway: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Invest in more </a:t>
            </a:r>
            <a:r>
              <a:rPr lang="en"/>
              <a:t>insurance</a:t>
            </a:r>
            <a:r>
              <a:rPr lang="en"/>
              <a:t> relationships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Market less in low density regions</a:t>
            </a:r>
            <a:endParaRPr/>
          </a:p>
        </p:txBody>
      </p:sp>
      <p:sp>
        <p:nvSpPr>
          <p:cNvPr id="379" name="Google Shape;379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0" name="Google Shape;38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7400" y="2056638"/>
            <a:ext cx="4007800" cy="264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900" y="1749825"/>
            <a:ext cx="4211625" cy="3256277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3"/>
          <p:cNvSpPr txBox="1"/>
          <p:nvPr>
            <p:ph idx="1" type="subTitle"/>
          </p:nvPr>
        </p:nvSpPr>
        <p:spPr>
          <a:xfrm>
            <a:off x="791150" y="522625"/>
            <a:ext cx="77517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Step - Technique explained</a:t>
            </a:r>
            <a:endParaRPr/>
          </a:p>
        </p:txBody>
      </p:sp>
      <p:sp>
        <p:nvSpPr>
          <p:cNvPr id="387" name="Google Shape;387;p53"/>
          <p:cNvSpPr txBox="1"/>
          <p:nvPr>
            <p:ph idx="2" type="body"/>
          </p:nvPr>
        </p:nvSpPr>
        <p:spPr>
          <a:xfrm>
            <a:off x="0" y="1630825"/>
            <a:ext cx="4127400" cy="3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What is a decision tree?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Machine learning algorithm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Splits data optimally to explain variation in desired metric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Pros: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Makes easy-to-understand visuals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Cons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Prone to overfitting if tuned incorrectly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Other tools are generally better at predicting with new data</a:t>
            </a:r>
            <a:endParaRPr/>
          </a:p>
        </p:txBody>
      </p:sp>
      <p:sp>
        <p:nvSpPr>
          <p:cNvPr id="388" name="Google Shape;388;p5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3"/>
          <p:cNvSpPr txBox="1"/>
          <p:nvPr>
            <p:ph idx="2" type="body"/>
          </p:nvPr>
        </p:nvSpPr>
        <p:spPr>
          <a:xfrm>
            <a:off x="5016600" y="1653113"/>
            <a:ext cx="4127400" cy="3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What is a random forest?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Also ML algorithm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Uses many decision trees with data split in many ways to find most predictive features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Pros: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Powerfully predictive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Cons: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Does not make similar visual to decision trees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Harder to explain without branching output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900" y="1749825"/>
            <a:ext cx="4211625" cy="3256277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4"/>
          <p:cNvSpPr txBox="1"/>
          <p:nvPr>
            <p:ph idx="1" type="subTitle"/>
          </p:nvPr>
        </p:nvSpPr>
        <p:spPr>
          <a:xfrm>
            <a:off x="791150" y="522625"/>
            <a:ext cx="80484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Step - variables considered</a:t>
            </a:r>
            <a:endParaRPr/>
          </a:p>
        </p:txBody>
      </p:sp>
      <p:sp>
        <p:nvSpPr>
          <p:cNvPr id="396" name="Google Shape;396;p54"/>
          <p:cNvSpPr txBox="1"/>
          <p:nvPr>
            <p:ph idx="2" type="body"/>
          </p:nvPr>
        </p:nvSpPr>
        <p:spPr>
          <a:xfrm>
            <a:off x="0" y="1630825"/>
            <a:ext cx="3681000" cy="3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Variables: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Time on site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Number of visits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Number of cars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Income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Age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Region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Regional marketing spend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Recency of marketing spend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Device type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Time to complete funnel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Number of insurance quotes seen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Landing page type (SEO)</a:t>
            </a:r>
            <a:endParaRPr/>
          </a:p>
        </p:txBody>
      </p:sp>
      <p:sp>
        <p:nvSpPr>
          <p:cNvPr id="397" name="Google Shape;397;p5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8" name="Google Shape;398;p54"/>
          <p:cNvSpPr txBox="1"/>
          <p:nvPr>
            <p:ph idx="2" type="body"/>
          </p:nvPr>
        </p:nvSpPr>
        <p:spPr>
          <a:xfrm>
            <a:off x="4369200" y="1653113"/>
            <a:ext cx="3681000" cy="3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Variables cont: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Is </a:t>
            </a:r>
            <a:r>
              <a:rPr lang="en"/>
              <a:t>return</a:t>
            </a:r>
            <a:r>
              <a:rPr lang="en"/>
              <a:t> user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Clicked anywhere on results page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Clicked to bundle insurance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Marketing channel attribution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Gender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Clicked to see more quote info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Clicked to change coverage type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Logged into Account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Stated Intent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Insured Status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etc.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5"/>
          <p:cNvSpPr txBox="1"/>
          <p:nvPr>
            <p:ph type="title"/>
          </p:nvPr>
        </p:nvSpPr>
        <p:spPr>
          <a:xfrm>
            <a:off x="735788" y="1225200"/>
            <a:ext cx="2304900" cy="3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Database: Snowflake</a:t>
            </a:r>
            <a:endParaRPr sz="1700"/>
          </a:p>
        </p:txBody>
      </p:sp>
      <p:sp>
        <p:nvSpPr>
          <p:cNvPr id="404" name="Google Shape;404;p55"/>
          <p:cNvSpPr txBox="1"/>
          <p:nvPr>
            <p:ph idx="2" type="title"/>
          </p:nvPr>
        </p:nvSpPr>
        <p:spPr>
          <a:xfrm>
            <a:off x="735788" y="1966200"/>
            <a:ext cx="26322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Analytics Data layer: DBT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5" name="Google Shape;405;p55"/>
          <p:cNvSpPr txBox="1"/>
          <p:nvPr>
            <p:ph idx="3" type="title"/>
          </p:nvPr>
        </p:nvSpPr>
        <p:spPr>
          <a:xfrm>
            <a:off x="735788" y="2785400"/>
            <a:ext cx="305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Data Visualization tool: Looker</a:t>
            </a:r>
            <a:endParaRPr sz="1700"/>
          </a:p>
        </p:txBody>
      </p:sp>
      <p:sp>
        <p:nvSpPr>
          <p:cNvPr id="406" name="Google Shape;406;p55"/>
          <p:cNvSpPr txBox="1"/>
          <p:nvPr>
            <p:ph idx="4" type="title"/>
          </p:nvPr>
        </p:nvSpPr>
        <p:spPr>
          <a:xfrm>
            <a:off x="735788" y="3616400"/>
            <a:ext cx="28209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Analytics tool: R Studio</a:t>
            </a:r>
            <a:endParaRPr sz="1700"/>
          </a:p>
        </p:txBody>
      </p:sp>
      <p:cxnSp>
        <p:nvCxnSpPr>
          <p:cNvPr id="407" name="Google Shape;407;p55"/>
          <p:cNvCxnSpPr/>
          <p:nvPr/>
        </p:nvCxnSpPr>
        <p:spPr>
          <a:xfrm>
            <a:off x="597238" y="1143375"/>
            <a:ext cx="316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55"/>
          <p:cNvCxnSpPr/>
          <p:nvPr/>
        </p:nvCxnSpPr>
        <p:spPr>
          <a:xfrm>
            <a:off x="597238" y="1795872"/>
            <a:ext cx="316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55"/>
          <p:cNvCxnSpPr/>
          <p:nvPr/>
        </p:nvCxnSpPr>
        <p:spPr>
          <a:xfrm>
            <a:off x="597238" y="2614148"/>
            <a:ext cx="316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55"/>
          <p:cNvCxnSpPr/>
          <p:nvPr/>
        </p:nvCxnSpPr>
        <p:spPr>
          <a:xfrm>
            <a:off x="597238" y="3414853"/>
            <a:ext cx="316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55"/>
          <p:cNvCxnSpPr/>
          <p:nvPr/>
        </p:nvCxnSpPr>
        <p:spPr>
          <a:xfrm>
            <a:off x="597238" y="4228250"/>
            <a:ext cx="3162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55"/>
          <p:cNvSpPr txBox="1"/>
          <p:nvPr>
            <p:ph idx="1" type="subTitle"/>
          </p:nvPr>
        </p:nvSpPr>
        <p:spPr>
          <a:xfrm>
            <a:off x="480425" y="290625"/>
            <a:ext cx="58200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First Step Considerations/Background</a:t>
            </a:r>
            <a:endParaRPr sz="2000"/>
          </a:p>
        </p:txBody>
      </p:sp>
      <p:sp>
        <p:nvSpPr>
          <p:cNvPr id="413" name="Google Shape;413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14" name="Google Shape;414;p55"/>
          <p:cNvCxnSpPr/>
          <p:nvPr/>
        </p:nvCxnSpPr>
        <p:spPr>
          <a:xfrm>
            <a:off x="5184663" y="1143375"/>
            <a:ext cx="33621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55"/>
          <p:cNvCxnSpPr/>
          <p:nvPr/>
        </p:nvCxnSpPr>
        <p:spPr>
          <a:xfrm>
            <a:off x="5204763" y="1905025"/>
            <a:ext cx="33219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55"/>
          <p:cNvCxnSpPr/>
          <p:nvPr/>
        </p:nvCxnSpPr>
        <p:spPr>
          <a:xfrm flipH="1" rot="10800000">
            <a:off x="5234613" y="4224050"/>
            <a:ext cx="32622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55"/>
          <p:cNvSpPr txBox="1"/>
          <p:nvPr>
            <p:ph type="title"/>
          </p:nvPr>
        </p:nvSpPr>
        <p:spPr>
          <a:xfrm>
            <a:off x="5372288" y="1182800"/>
            <a:ext cx="3162600" cy="3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Data Source: Event-level SQL query and DBT data</a:t>
            </a:r>
            <a:endParaRPr sz="1700"/>
          </a:p>
        </p:txBody>
      </p:sp>
      <p:sp>
        <p:nvSpPr>
          <p:cNvPr id="418" name="Google Shape;418;p55"/>
          <p:cNvSpPr txBox="1"/>
          <p:nvPr>
            <p:ph idx="2" type="title"/>
          </p:nvPr>
        </p:nvSpPr>
        <p:spPr>
          <a:xfrm>
            <a:off x="5382213" y="1905025"/>
            <a:ext cx="2967000" cy="11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Consideration: First time the company is using </a:t>
            </a:r>
            <a:r>
              <a:rPr lang="en" sz="1700"/>
              <a:t>decision</a:t>
            </a:r>
            <a:r>
              <a:rPr lang="en" sz="1700"/>
              <a:t> tree and random forest for decision making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19" name="Google Shape;419;p55"/>
          <p:cNvSpPr txBox="1"/>
          <p:nvPr>
            <p:ph idx="3" type="title"/>
          </p:nvPr>
        </p:nvSpPr>
        <p:spPr>
          <a:xfrm>
            <a:off x="5382213" y="3178225"/>
            <a:ext cx="2967000" cy="10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Recommendation isn’t within Product’s control. Sorry not sorry</a:t>
            </a:r>
            <a:endParaRPr sz="1700"/>
          </a:p>
        </p:txBody>
      </p:sp>
      <p:cxnSp>
        <p:nvCxnSpPr>
          <p:cNvPr id="420" name="Google Shape;420;p55"/>
          <p:cNvCxnSpPr/>
          <p:nvPr/>
        </p:nvCxnSpPr>
        <p:spPr>
          <a:xfrm flipH="1" rot="10800000">
            <a:off x="5234613" y="3172100"/>
            <a:ext cx="32622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55"/>
          <p:cNvSpPr txBox="1"/>
          <p:nvPr>
            <p:ph idx="4" type="title"/>
          </p:nvPr>
        </p:nvSpPr>
        <p:spPr>
          <a:xfrm>
            <a:off x="1691863" y="4453400"/>
            <a:ext cx="54756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So there’s a next step for Product…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900" y="1749825"/>
            <a:ext cx="4211625" cy="3256277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6"/>
          <p:cNvSpPr txBox="1"/>
          <p:nvPr>
            <p:ph idx="1" type="subTitle"/>
          </p:nvPr>
        </p:nvSpPr>
        <p:spPr>
          <a:xfrm>
            <a:off x="791150" y="522625"/>
            <a:ext cx="79872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 - for Product Team</a:t>
            </a:r>
            <a:endParaRPr/>
          </a:p>
        </p:txBody>
      </p:sp>
      <p:sp>
        <p:nvSpPr>
          <p:cNvPr id="428" name="Google Shape;428;p56"/>
          <p:cNvSpPr txBox="1"/>
          <p:nvPr>
            <p:ph idx="2" type="body"/>
          </p:nvPr>
        </p:nvSpPr>
        <p:spPr>
          <a:xfrm>
            <a:off x="0" y="1630825"/>
            <a:ext cx="8917200" cy="3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Question: Which metric impacts revenue per visitor the most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that Product controls</a:t>
            </a:r>
            <a:r>
              <a:rPr lang="en"/>
              <a:t>?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Analytical Tool: Causal Inference (propensity score)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Products: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Revenue multiplier for Applicants with activity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Interactive tool to explore revenue impact of KPI improvements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Answer: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 Most impactful click for revenue: logging into account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Applicants who log into account make 1.7x more</a:t>
            </a:r>
            <a:r>
              <a:rPr lang="en"/>
              <a:t> revenue on average than similar other applicants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Also, new feature for bundling home/auto insurance is actually losing revenue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Takeaway: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Pause bundling until funnel KPIs improve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This was a large mental shift: upended previous understanding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Qualitative UX panel for account makers to understand why such an impact</a:t>
            </a:r>
            <a:endParaRPr/>
          </a:p>
        </p:txBody>
      </p:sp>
      <p:sp>
        <p:nvSpPr>
          <p:cNvPr id="429" name="Google Shape;429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900" y="1749825"/>
            <a:ext cx="4211625" cy="325627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7"/>
          <p:cNvSpPr txBox="1"/>
          <p:nvPr>
            <p:ph idx="1" type="subTitle"/>
          </p:nvPr>
        </p:nvSpPr>
        <p:spPr>
          <a:xfrm>
            <a:off x="791150" y="522625"/>
            <a:ext cx="79872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 - Technique Explained</a:t>
            </a:r>
            <a:endParaRPr/>
          </a:p>
        </p:txBody>
      </p:sp>
      <p:sp>
        <p:nvSpPr>
          <p:cNvPr id="436" name="Google Shape;436;p57"/>
          <p:cNvSpPr txBox="1"/>
          <p:nvPr>
            <p:ph idx="2" type="body"/>
          </p:nvPr>
        </p:nvSpPr>
        <p:spPr>
          <a:xfrm>
            <a:off x="0" y="1630825"/>
            <a:ext cx="8917200" cy="3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What is Causal Inference (propensity score)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Use variables </a:t>
            </a:r>
            <a:r>
              <a:rPr lang="en"/>
              <a:t>related</a:t>
            </a:r>
            <a:r>
              <a:rPr lang="en"/>
              <a:t> to a visitor with a particular site action and finds the most similar visitor without the action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Then compare revenue between visitor with and without action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Closest to “apples to apples” comparison we can do with data we have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“The only thing we know that’s different between these 2 visitors is x action” lets us infer that the action “causes” the revenue </a:t>
            </a:r>
            <a:r>
              <a:rPr lang="en"/>
              <a:t>difference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Pro: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New understanding of </a:t>
            </a:r>
            <a:r>
              <a:rPr lang="en"/>
              <a:t>isolated</a:t>
            </a:r>
            <a:r>
              <a:rPr lang="en"/>
              <a:t> impact of site action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Con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Difference in </a:t>
            </a:r>
            <a:r>
              <a:rPr lang="en"/>
              <a:t>revenue</a:t>
            </a:r>
            <a:r>
              <a:rPr lang="en"/>
              <a:t> may be explained by a variable we don’t collect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ML can optimize to find best match but it’s not “perfect” because no two people are alike</a:t>
            </a:r>
            <a:endParaRPr/>
          </a:p>
        </p:txBody>
      </p:sp>
      <p:sp>
        <p:nvSpPr>
          <p:cNvPr id="437" name="Google Shape;437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900" y="1749825"/>
            <a:ext cx="4211625" cy="3256277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8"/>
          <p:cNvSpPr txBox="1"/>
          <p:nvPr>
            <p:ph idx="1" type="subTitle"/>
          </p:nvPr>
        </p:nvSpPr>
        <p:spPr>
          <a:xfrm>
            <a:off x="791150" y="522625"/>
            <a:ext cx="78906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3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Interactive Tool Demo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44" name="Google Shape;444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5" name="Google Shape;445;p58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630817"/>
            <a:ext cx="9144000" cy="3335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900" y="1749825"/>
            <a:ext cx="4211625" cy="3256277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9"/>
          <p:cNvSpPr txBox="1"/>
          <p:nvPr>
            <p:ph idx="1" type="subTitle"/>
          </p:nvPr>
        </p:nvSpPr>
        <p:spPr>
          <a:xfrm>
            <a:off x="791150" y="522625"/>
            <a:ext cx="55167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 Outcomes</a:t>
            </a:r>
            <a:endParaRPr/>
          </a:p>
        </p:txBody>
      </p:sp>
      <p:sp>
        <p:nvSpPr>
          <p:cNvPr id="452" name="Google Shape;452;p5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0" y="1630825"/>
            <a:ext cx="8917200" cy="34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Pause bundle rollout - saves millions of dollars in potentially lost revenue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Bundle revenue per applicant was very high but deceptive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This analysis uncovered hidden cost of bundle: losing our most valuable potential customers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Product team further appreciates they are but players in vast ecosystem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Humbled by </a:t>
            </a:r>
            <a:r>
              <a:rPr lang="en"/>
              <a:t>insurance</a:t>
            </a:r>
            <a:r>
              <a:rPr lang="en"/>
              <a:t> quote density being top predictor of revenue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Passed off next analytic step of analysis: impact of increased </a:t>
            </a:r>
            <a:r>
              <a:rPr lang="en"/>
              <a:t>insurance</a:t>
            </a:r>
            <a:r>
              <a:rPr lang="en"/>
              <a:t> partners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Further invest in account creation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All new features are AB tested, so the impact of investment is </a:t>
            </a:r>
            <a:r>
              <a:rPr lang="en"/>
              <a:t>quantified in ordinary AB tests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Introduced Causal Inference to company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Powerful tool to understand true apples to apples impact of product feature use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Vital knowledge: Not all visitors are alike in potential revenue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/>
              <a:t>Now we know profile of most valuable customer, perhaps </a:t>
            </a:r>
            <a:r>
              <a:rPr lang="en"/>
              <a:t>personal</a:t>
            </a:r>
            <a:r>
              <a:rPr lang="en"/>
              <a:t> touch for VIPs?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Data-informed </a:t>
            </a:r>
            <a:r>
              <a:rPr lang="en"/>
              <a:t>product</a:t>
            </a:r>
            <a:r>
              <a:rPr lang="en"/>
              <a:t> </a:t>
            </a:r>
            <a:r>
              <a:rPr lang="en"/>
              <a:t>prioritization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/>
              <a:t>Applying similar rigor to prioritization as company AB testing ethos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0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